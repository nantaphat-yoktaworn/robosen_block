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146304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2560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38BDF8"/>
                </a:solidFill>
              </a:defRPr>
            </a:pPr>
            <a:r>
              <a:t>ROBOSEN K1 PHYSICAL MODULAR BLOCKS — 14-WEEK TIMELINE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Canva Whiteboard Native Vector Presentation • Fully Editable Text &amp; Cards • Horizontal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0" y="457200"/>
            <a:ext cx="15544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E2E8F0"/>
                </a:solidFill>
              </a:defRPr>
            </a:pPr>
            <a:r>
              <a:t>🟢 DONE (W1-W3)   |   🟠 IN PROGRESS (W4)   |   🔵 SCHEDULED (W5-W14)   |   ★ KEY MILESTONES (W7, W10, W12, W14)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7315200"/>
            <a:ext cx="42062400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42793920" y="7205472"/>
            <a:ext cx="365760" cy="310896"/>
          </a:xfrm>
          <a:prstGeom prst="rightArrow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53312" y="6675120"/>
            <a:ext cx="36576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61872" y="7251192"/>
            <a:ext cx="219456" cy="21945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7452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W1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-22860" y="1828800"/>
            <a:ext cx="2788920" cy="4846320"/>
          </a:xfrm>
          <a:prstGeom prst="roundRect">
            <a:avLst/>
          </a:prstGeom>
          <a:solidFill>
            <a:srgbClr val="0628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b="1" sz="1000">
                <a:solidFill>
                  <a:srgbClr val="34D399"/>
                </a:solidFill>
              </a:defRPr>
            </a:pPr>
            <a:r>
              <a:t>WEEK 01  •  16/08 - 22/08/2026</a:t>
            </a:r>
          </a:p>
          <a:p>
            <a:pPr>
              <a:defRPr b="1" sz="950">
                <a:solidFill>
                  <a:srgbClr val="34D399"/>
                </a:solidFill>
              </a:defRPr>
            </a:pPr>
            <a:r>
              <a:t>[DONE (เสร็จสิ้น)]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วางรากฐานระบบ &amp; บลูทูธเบื้องต้น</a:t>
            </a:r>
          </a:p>
          <a:p>
            <a:pPr>
              <a:defRPr i="1" sz="900">
                <a:solidFill>
                  <a:srgbClr val="94A3B8"/>
                </a:solidFill>
              </a:defRPr>
            </a:pPr>
            <a:r>
              <a:t>System Foundation &amp; Initial BLE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[HW] ร่างโครงสร้างระบบจ่ายไฟ &amp; กำหนดสัญญาณหน้าสัมผัส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[3D] กำหนดขนาดตัวบล็อกให้จับถือถนัดมือ &amp; วางพอร์ต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[FW] ถอดรหัสคำสั่ง BLE พื้นฐานหุ่นยนต์ K1 (เดิน/เลี้ยว)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[UX] ศึกษาหลักสรีรศาสตร์เด็ก &amp; การใช้สี/รูปทรง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[QA] กำหนดเกณฑ์ความปลอดภัย &amp; ป้องกันการลัดวงจร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7315200"/>
            <a:ext cx="36576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33672" y="7251192"/>
            <a:ext cx="219456" cy="21945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40" y="69037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W2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48940" y="7955280"/>
            <a:ext cx="2788920" cy="4846320"/>
          </a:xfrm>
          <a:prstGeom prst="roundRect">
            <a:avLst/>
          </a:prstGeom>
          <a:solidFill>
            <a:srgbClr val="0628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b="1" sz="1000">
                <a:solidFill>
                  <a:srgbClr val="34D399"/>
                </a:solidFill>
              </a:defRPr>
            </a:pPr>
            <a:r>
              <a:t>WEEK 02  •  23/08 - 29/08/2026</a:t>
            </a:r>
          </a:p>
          <a:p>
            <a:pPr>
              <a:defRPr b="1" sz="950">
                <a:solidFill>
                  <a:srgbClr val="34D399"/>
                </a:solidFill>
              </a:defRPr>
            </a:pPr>
            <a:r>
              <a:t>[DONE (เสร็จสิ้น)]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ถอดรหัสคำสั่งครบวงจร &amp; ระบบจำลอง</a:t>
            </a:r>
          </a:p>
          <a:p>
            <a:pPr>
              <a:defRPr i="1" sz="900">
                <a:solidFill>
                  <a:srgbClr val="94A3B8"/>
                </a:solidFill>
              </a:defRPr>
            </a:pPr>
            <a:r>
              <a:t>Protocol Reverse-Engineering &amp; Sim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[HW] วิเคราะห์วงจรชาร์จไฟ &amp; จัดเตรียมไฟล์เสียงคำสั่ง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[3D] สรุปรายการชิ้นส่วนต้นแบบ &amp; วัดขนาดจริงแผงวงจร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[FW] ถอดรหัสคำสั่งขั้นสูงกว่า 25 รูปแบบ &amp; ระบบ ACK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[UX] วางโฟลว์: เสียบแท่น Dock -&gt; ต่อแม่เหล็ก -&gt; ไฟสถานะ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[QA] ระบบจำลองการสื่อสารเพื่อทดสอบความถูกต้องข้อมูล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96912" y="6675120"/>
            <a:ext cx="36576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05472" y="7251192"/>
            <a:ext cx="219456" cy="21945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7452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W3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20740" y="1828800"/>
            <a:ext cx="2788920" cy="4846320"/>
          </a:xfrm>
          <a:prstGeom prst="roundRect">
            <a:avLst/>
          </a:prstGeom>
          <a:solidFill>
            <a:srgbClr val="0628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b="1" sz="1000">
                <a:solidFill>
                  <a:srgbClr val="34D399"/>
                </a:solidFill>
              </a:defRPr>
            </a:pPr>
            <a:r>
              <a:t>WEEK 03  •  30/08 - 05/09/2026</a:t>
            </a:r>
          </a:p>
          <a:p>
            <a:pPr>
              <a:defRPr b="1" sz="950">
                <a:solidFill>
                  <a:srgbClr val="34D399"/>
                </a:solidFill>
              </a:defRPr>
            </a:pPr>
            <a:r>
              <a:t>[DONE (เสร็จสิ้น)]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โปรแกรมควบคุมหลัก &amp; สรุปรายการ BOM</a:t>
            </a:r>
          </a:p>
          <a:p>
            <a:pPr>
              <a:defRPr i="1" sz="900">
                <a:solidFill>
                  <a:srgbClr val="94A3B8"/>
                </a:solidFill>
              </a:defRPr>
            </a:pPr>
            <a:r>
              <a:t>Master Controller Core &amp; Hardware BOM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[HW] สรุป BOM หลัก: ไมโครคอนโทรลเลอร์, ไฟ RGB, จอ, แบต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[3D] ร่างแบบแท่นยึดอุปกรณ์สำหรับชุดทดลองต้นแบบ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[FW] โปรแกรม Master: ค้นหา &amp; เชื่อมต่อหุ่นยนต์อัตโนมัติ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[UX] จัดทำแผนภาพสรุปโฟลว์ขั้นตอนการทำงานระบบ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[QA] ทดสอบฟิลเตอร์ตัดสัญญาณกวนปุ่มหมุน Rotary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68712" y="7315200"/>
            <a:ext cx="36576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77272" y="7251192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69037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W4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2540" y="7955280"/>
            <a:ext cx="2788920" cy="4846320"/>
          </a:xfrm>
          <a:prstGeom prst="roundRect">
            <a:avLst/>
          </a:prstGeom>
          <a:solidFill>
            <a:srgbClr val="29180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b="1" sz="1000">
                <a:solidFill>
                  <a:srgbClr val="FCD34D"/>
                </a:solidFill>
              </a:defRPr>
            </a:pPr>
            <a:r>
              <a:t>WEEK 04  •  06/09 - 12/09/2026</a:t>
            </a:r>
          </a:p>
          <a:p>
            <a:pPr>
              <a:defRPr b="1" sz="950">
                <a:solidFill>
                  <a:srgbClr val="FCD34D"/>
                </a:solidFill>
              </a:defRPr>
            </a:pPr>
            <a:r>
              <a:t>[IN PROGRESS (กำลังทำ)]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ผังวงจรไฟฟ้าครบชุด &amp; โมเดล 3D</a:t>
            </a:r>
          </a:p>
          <a:p>
            <a:pPr>
              <a:defRPr i="1" sz="900">
                <a:solidFill>
                  <a:srgbClr val="94A3B8"/>
                </a:solidFill>
              </a:defRPr>
            </a:pPr>
            <a:r>
              <a:t>Schematics Design &amp; 3D Enclosure CAD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[HW] ออกแบบวงจร Master, Action, End Block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[3D] ออกแบบ 3D แม่เหล็กกันกลับขั้ว &amp; ท่อนำแสง LED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[FW] ทดสอบเชื่อมต่อส่งคำสั่ง BLE หุ่นยนต์จริงบนบอร์ด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[UX] ออกแบบกราฟิกตัวบล็อก/หน้าจอ: ไอคอนอ่านง่าย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[QA] ตรวจความปลอดภัยไฟฟ้าและวงจรควบคุมการชาร์จ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40512" y="6675120"/>
            <a:ext cx="36576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149072" y="7251192"/>
            <a:ext cx="219456" cy="21945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93040" y="7452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W5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864340" y="1828800"/>
            <a:ext cx="278892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b="1" sz="1000">
                <a:solidFill>
                  <a:srgbClr val="7DD3FC"/>
                </a:solidFill>
              </a:defRPr>
            </a:pPr>
            <a:r>
              <a:t>WEEK 05  •  13/09 - 19/09/2026</a:t>
            </a:r>
          </a:p>
          <a:p>
            <a:pPr>
              <a:defRPr b="1" sz="950">
                <a:solidFill>
                  <a:srgbClr val="7DD3FC"/>
                </a:solidFill>
              </a:defRPr>
            </a:pPr>
            <a:r>
              <a:t>[SCHEDULED (ตามแผน)]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ออกแบบแผ่น PCB &amp; พิมพ์ 3D ทดสอบ</a:t>
            </a:r>
          </a:p>
          <a:p>
            <a:pPr>
              <a:defRPr i="1" sz="900">
                <a:solidFill>
                  <a:srgbClr val="94A3B8"/>
                </a:solidFill>
              </a:defRPr>
            </a:pPr>
            <a:r>
              <a:t>PCB Layout &amp; 3D Prototype Fit Check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[HW] ออกแบบลายวงจร PCB บล็อกทั้ง 3 แบบให้กะทัดรัด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[3D] พิมพ์ 3D เคสทดสอบ: ตรวจความกระชับ &amp; แสงไฟ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[FW] เฟิร์มแวร์ Action Block: บันทึกค่าคำสั่งลง Flash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[UX] ออกแบบสัญลักษณ์ระบุทิศทาง &amp; สเกลปุ่มหมุน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[QA] รันชุดทดสอบสื่อสาร: รับมือขั้วสัมผัสหลวม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212312" y="7315200"/>
            <a:ext cx="36576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6120872" y="7251192"/>
            <a:ext cx="219456" cy="21945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864840" y="69037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W6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836140" y="7955280"/>
            <a:ext cx="278892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b="1" sz="1000">
                <a:solidFill>
                  <a:srgbClr val="7DD3FC"/>
                </a:solidFill>
              </a:defRPr>
            </a:pPr>
            <a:r>
              <a:t>WEEK 06  •  20/09 - 26/09/2026</a:t>
            </a:r>
          </a:p>
          <a:p>
            <a:pPr>
              <a:defRPr b="1" sz="950">
                <a:solidFill>
                  <a:srgbClr val="7DD3FC"/>
                </a:solidFill>
              </a:defRPr>
            </a:pPr>
            <a:r>
              <a:t>[SCHEDULED (ตามแผน)]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สั่งผลิต PCB &amp; กราฟิกหน้าจอแสดงผล</a:t>
            </a:r>
          </a:p>
          <a:p>
            <a:pPr>
              <a:defRPr i="1" sz="900">
                <a:solidFill>
                  <a:srgbClr val="94A3B8"/>
                </a:solidFill>
              </a:defRPr>
            </a:pPr>
            <a:r>
              <a:t>PCB Fabrication &amp; OLED UI Graphics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[HW] ตรวจแบบวงจร &amp; ส่งสั่งผลิต PCB พร้อมซื้อชิ้นส่วน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[3D] ซื้อแม่เหล็ก N52 แรงสูง, พินสปริง Pogo, แบตเตอรี่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[FW] ระบบแสดงผล OLED: ไอคอนคำสั่ง &amp; แถบระดับค่า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[UX] ผลิตตัวอย่างสติกเกอร์สัญลักษณ์คำสั่งกันรอย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[QA] สเตรสเทสประมวลผลคำสั่งต่อเนื่อง 100 รอบ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184112" y="6675120"/>
            <a:ext cx="36576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9092672" y="7251192"/>
            <a:ext cx="219456" cy="21945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836640" y="7452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W7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807940" y="1828800"/>
            <a:ext cx="2788920" cy="484632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b="1" sz="1000">
                <a:solidFill>
                  <a:srgbClr val="7DD3FC"/>
                </a:solidFill>
              </a:defRPr>
            </a:pPr>
            <a:r>
              <a:t>WEEK 07  •  27/09 - 03/10/2026</a:t>
            </a:r>
          </a:p>
          <a:p>
            <a:pPr>
              <a:defRPr b="1" sz="950">
                <a:solidFill>
                  <a:srgbClr val="EC4899"/>
                </a:solidFill>
              </a:defRPr>
            </a:pPr>
            <a:r>
              <a:t>[SCHEDULED (ตามแผน)] ★ KEY MILESTONE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🎯 ประเมินผลกลางภาค (Midterm)</a:t>
            </a:r>
          </a:p>
          <a:p>
            <a:pPr>
              <a:defRPr i="1" sz="900">
                <a:solidFill>
                  <a:srgbClr val="94A3B8"/>
                </a:solidFill>
              </a:defRPr>
            </a:pPr>
            <a:r>
              <a:t>Midterm Progress Review &amp; Evaluation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[HW] เตรียมห้องแล็บและเครื่องมือประกอบชิ้นส่วน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[3D] พิมพ์เคส 3D ชุดจริงความทนทานสูงครบ 5 บล็อก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[FW] State Machine: สลับเมนู &amp; โหมดแท่น Dock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[UX] ประเมินความโค้งมนไม่บาดมือ &amp; ความชัดหน้าจอ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🎯 【ประเมินผลกลางภาค】: ส่งรายงาน &amp; สอบกลางภาค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155912" y="7315200"/>
            <a:ext cx="36576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2064472" y="7251192"/>
            <a:ext cx="219456" cy="21945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808440" y="69037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W8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779740" y="7955280"/>
            <a:ext cx="278892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b="1" sz="1000">
                <a:solidFill>
                  <a:srgbClr val="7DD3FC"/>
                </a:solidFill>
              </a:defRPr>
            </a:pPr>
            <a:r>
              <a:t>WEEK 08  •  04/10 - 10/10/2026</a:t>
            </a:r>
          </a:p>
          <a:p>
            <a:pPr>
              <a:defRPr b="1" sz="950">
                <a:solidFill>
                  <a:srgbClr val="7DD3FC"/>
                </a:solidFill>
              </a:defRPr>
            </a:pPr>
            <a:r>
              <a:t>[SCHEDULED (ตามแผน)]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ประกอบ บัดกรี &amp; ระบบจ่ายไฟ</a:t>
            </a:r>
          </a:p>
          <a:p>
            <a:pPr>
              <a:defRPr i="1" sz="900">
                <a:solidFill>
                  <a:srgbClr val="94A3B8"/>
                </a:solidFill>
              </a:defRPr>
            </a:pPr>
            <a:r>
              <a:t>PCB Assembly &amp; Power Rail Qualification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[HW] บัดกรี SMD/THT อุปกรณ์, พิน, สวิตช์, จอภาพ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[3D] ขัดผิวเคส 3D เรียบเนียน &amp; Dry-fit แผงวงจรลงเคส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[FW] โปรแกรมทดสอบ Master: ตรวจสอบจอ &amp; ลูกบิดหมุน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[UX] ติดสติกเกอร์สัญลักษณ์เคลือบผิวพิเศษบนเคสจริง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[QA] ทดสอบระบบไฟ: แรงดันไฟเลี้ยง &amp; ตัดชาร์จสมบูรณ์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127712" y="6675120"/>
            <a:ext cx="36576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036272" y="7251192"/>
            <a:ext cx="219456" cy="21945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780240" y="7452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W9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751540" y="1828800"/>
            <a:ext cx="278892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b="1" sz="1000">
                <a:solidFill>
                  <a:srgbClr val="7DD3FC"/>
                </a:solidFill>
              </a:defRPr>
            </a:pPr>
            <a:r>
              <a:t>WEEK 09  •  11/10 - 17/10/2026</a:t>
            </a:r>
          </a:p>
          <a:p>
            <a:pPr>
              <a:defRPr b="1" sz="950">
                <a:solidFill>
                  <a:srgbClr val="7DD3FC"/>
                </a:solidFill>
              </a:defRPr>
            </a:pPr>
            <a:r>
              <a:t>[SCHEDULED (ตามแผน)]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แฟลชบอร์ดจริง &amp; แท่น Dock</a:t>
            </a:r>
          </a:p>
          <a:p>
            <a:pPr>
              <a:defRPr i="1" sz="900">
                <a:solidFill>
                  <a:srgbClr val="94A3B8"/>
                </a:solidFill>
              </a:defRPr>
            </a:pPr>
            <a:r>
              <a:t>Firmware Bring-up &amp; Config Dock Test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[HW] ตรวจสอบความต่อเนื่องลายวงจร &amp; ความเรียบพิน Pogo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[3D] ติดตั้งแม่เหล็กเข้าเคสตามแนวขั้วแน่นหนา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[FW] แฟลช 4 Action Blocks &amp; ทดสอบตั้งค่าผ่าน Dock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[UX] จัดทำแบบประเมินความสะดวกการใช้งาน (Usability)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[QA] ตรวจวัดสัญญาณ Scope พร้อมทดสอบขยับโยกบล็อก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099512" y="7315200"/>
            <a:ext cx="36576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8008072" y="7251192"/>
            <a:ext cx="219456" cy="21945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752040" y="69037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W10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723340" y="7955280"/>
            <a:ext cx="2788920" cy="484632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b="1" sz="1000">
                <a:solidFill>
                  <a:srgbClr val="7DD3FC"/>
                </a:solidFill>
              </a:defRPr>
            </a:pPr>
            <a:r>
              <a:t>WEEK 10  •  18/10 - 24/10/2026</a:t>
            </a:r>
          </a:p>
          <a:p>
            <a:pPr>
              <a:defRPr b="1" sz="950">
                <a:solidFill>
                  <a:srgbClr val="EC4899"/>
                </a:solidFill>
              </a:defRPr>
            </a:pPr>
            <a:r>
              <a:t>[SCHEDULED (ตามแผน)] ★ KEY MILESTONE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🤖 ประกอบครบ 5 บล็อก &amp; สั่งหุ่นยนต์</a:t>
            </a:r>
          </a:p>
          <a:p>
            <a:pPr>
              <a:defRPr i="1" sz="900">
                <a:solidFill>
                  <a:srgbClr val="94A3B8"/>
                </a:solidFill>
              </a:defRPr>
            </a:pPr>
            <a:r>
              <a:t>5-Block Integration &amp; K1 Live Run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[HW] ติดตั้งแบตเตอรี่ &amp; สวิตช์ปิด-เปิด Master Block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[3D] ประกอบชิ้นส่วนเข้าเคสสมบูรณ์ครบทั้ง 5 บล็อก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[FW] ครบวงจร: Dock -&gt; ต่อบล็อก -&gt; Run -&gt; หุ่นขยับสำเร็จ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[UX] จัดเซตกล่องบล็อกครบชุด &amp; คู่มือใช้งานเบื้องต้น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🤖 ตรวจสอบไฟสถานะวิ่งตามจังหวะหุ่นยนต์ 100%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071312" y="6675120"/>
            <a:ext cx="36576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979872" y="7251192"/>
            <a:ext cx="219456" cy="21945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723840" y="7452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W11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695140" y="1828800"/>
            <a:ext cx="278892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b="1" sz="1000">
                <a:solidFill>
                  <a:srgbClr val="7DD3FC"/>
                </a:solidFill>
              </a:defRPr>
            </a:pPr>
            <a:r>
              <a:t>WEEK 11  •  25/10 - 31/10/2026</a:t>
            </a:r>
          </a:p>
          <a:p>
            <a:pPr>
              <a:defRPr b="1" sz="950">
                <a:solidFill>
                  <a:srgbClr val="7DD3FC"/>
                </a:solidFill>
              </a:defRPr>
            </a:pPr>
            <a:r>
              <a:t>[SCHEDULED (ตามแผน)]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Drop Test, E-Stop &amp; ซ้อมใหญ่</a:t>
            </a:r>
          </a:p>
          <a:p>
            <a:pPr>
              <a:defRPr i="1" sz="900">
                <a:solidFill>
                  <a:srgbClr val="94A3B8"/>
                </a:solidFill>
              </a:defRPr>
            </a:pPr>
            <a:r>
              <a:t>Durability Test, Emergency E-Stop &amp; Prep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[HW] ตรวจวัดความร้อนต่อเนื่อง &amp; ไฟเลี้ยงรางยาวสุด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[3D] Drop Test ตกกระแทก 1 ม.: เคสและพินไม่เสียหาย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[FW] ดึงบล็อกออกฉุกเฉิน (E-Stop): หุ่นหยุดทันทีอัตโนมัติ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[UX] ตรวจมาตรฐานความปลอดภัยเด็ก: ขอบมน &amp; ไร้สารพิษ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[QA] ซักซ้อมขั้นตอนทดสอบภาคสนามเสมือนจริง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043112" y="7315200"/>
            <a:ext cx="36576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3951672" y="7251192"/>
            <a:ext cx="219456" cy="21945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695640" y="69037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W12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666940" y="7955280"/>
            <a:ext cx="2788920" cy="484632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b="1" sz="1000">
                <a:solidFill>
                  <a:srgbClr val="7DD3FC"/>
                </a:solidFill>
              </a:defRPr>
            </a:pPr>
            <a:r>
              <a:t>WEEK 12  •  01/11 - 07/11/2026</a:t>
            </a:r>
          </a:p>
          <a:p>
            <a:pPr>
              <a:defRPr b="1" sz="950">
                <a:solidFill>
                  <a:srgbClr val="EC4899"/>
                </a:solidFill>
              </a:defRPr>
            </a:pPr>
            <a:r>
              <a:t>[SCHEDULED (ตามแผน)] ★ KEY MILESTONE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🌟 ทดสอบกับผู้ใช้จริง (Pilot Test)</a:t>
            </a:r>
          </a:p>
          <a:p>
            <a:pPr>
              <a:defRPr i="1" sz="900">
                <a:solidFill>
                  <a:srgbClr val="94A3B8"/>
                </a:solidFill>
              </a:defRPr>
            </a:pPr>
            <a:r>
              <a:t>Weekend Field Pilot &amp; User Experience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[HW] ดูแลฮาร์ดแวร์: ติดตามแบตเตอรี่ &amp; อะไหล่สำรอง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[3D] สังเกตการใช้งานจริง: แรงดูดแม่เหล็ก &amp; การหมุนลูกบิด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[FW] ตรวจสอบความเสถียร BLE Telemetry สด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[UX] กิจกรรมต่อบล็อกทดสอบอิสระ &amp; ประเมินความพึงพอใจ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🌟 บันทึกเวลาประมวลผล, ไฟสถานะ &amp; บันทึกปัญหา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7014912" y="6675120"/>
            <a:ext cx="36576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6923472" y="7251192"/>
            <a:ext cx="219456" cy="21945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667440" y="7452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W13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5638740" y="1828800"/>
            <a:ext cx="2788920" cy="4846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b="1" sz="1000">
                <a:solidFill>
                  <a:srgbClr val="7DD3FC"/>
                </a:solidFill>
              </a:defRPr>
            </a:pPr>
            <a:r>
              <a:t>WEEK 13  •  08/11 - 14/11/2026</a:t>
            </a:r>
          </a:p>
          <a:p>
            <a:pPr>
              <a:defRPr b="1" sz="950">
                <a:solidFill>
                  <a:srgbClr val="7DD3FC"/>
                </a:solidFill>
              </a:defRPr>
            </a:pPr>
            <a:r>
              <a:t>[SCHEDULED (ตามแผน)]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ปรับปรุงตามฟีดแบ็ก &amp; จูนระบบ</a:t>
            </a:r>
          </a:p>
          <a:p>
            <a:pPr>
              <a:defRPr i="1" sz="900">
                <a:solidFill>
                  <a:srgbClr val="94A3B8"/>
                </a:solidFill>
              </a:defRPr>
            </a:pPr>
            <a:r>
              <a:t>Feedback Refinement &amp; System Polish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[HW] ตรวจสภาพจุดต่อหลังงานหนัก &amp; ประหยัดพลังงาน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[3D] ปรับปรุงเคส: ลายกันลื่นลูกบิด &amp; มุมต่อประกบ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[FW] จูนลูกบิดให้นิ่ง &amp; คอนทราสต์ไอคอนจอ OLED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[UX] วิเคราะห์ผล: คำนวณ SUS Score &amp; กราฟสรุป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[QA] รันคำสั่งผสมผสานต่อเนื่อง 50+ รอบเสถียร 100%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986712" y="7315200"/>
            <a:ext cx="36576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9895272" y="7251192"/>
            <a:ext cx="219456" cy="21945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639240" y="69037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W14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8610540" y="7955280"/>
            <a:ext cx="2788920" cy="484632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b="1" sz="1000">
                <a:solidFill>
                  <a:srgbClr val="7DD3FC"/>
                </a:solidFill>
              </a:defRPr>
            </a:pPr>
            <a:r>
              <a:t>WEEK 14  •  15/11 - 21/11/2026</a:t>
            </a:r>
          </a:p>
          <a:p>
            <a:pPr>
              <a:defRPr b="1" sz="950">
                <a:solidFill>
                  <a:srgbClr val="EC4899"/>
                </a:solidFill>
              </a:defRPr>
            </a:pPr>
            <a:r>
              <a:t>[SCHEDULED (ตามแผน)] ★ KEY MILESTONE</a:t>
            </a:r>
          </a:p>
          <a:p>
            <a:pPr>
              <a:defRPr b="1" sz="1200">
                <a:solidFill>
                  <a:srgbClr val="38BDF8"/>
                </a:solidFill>
              </a:defRPr>
            </a:pPr>
            <a:r>
              <a:t>🏆 ส่งมอบสมบูรณ์ &amp; สอบป้องกันโครงงาน</a:t>
            </a:r>
          </a:p>
          <a:p>
            <a:pPr>
              <a:defRPr i="1" sz="900">
                <a:solidFill>
                  <a:srgbClr val="94A3B8"/>
                </a:solidFill>
              </a:defRPr>
            </a:pPr>
            <a:r>
              <a:t>Final Release, Demo Reel &amp; Project Defense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[HW] รวมเอกสารวิศวกรรม: Schematic, PCB, BOM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[3D] ทำความสะอาดเคส &amp; บรรจุกล่องจัดแสดง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[FW] แท็กซอร์สโค้ดสมบูรณ์ (Release v1.0.0)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[UX] เล่มรายงานวิชาการฉบับสมบูรณ์ &amp; สไลด์นำเสนอ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🏆 【สอบป้องกันโครงงาน】: วิดีโอสาธิต &amp; สาธิตสด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13898880"/>
            <a:ext cx="4206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Robosen Block Physical Tangible Programming System • Senior Capstone Project 2026 • 100% Native Editable Canva Whiteboard Vector Objects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